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MagicBox: one brief becomes on-brand, human-approved posts published direct to Instagram, LinkedIn and YouTube.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content is still made by hand; point tools don't own outcomes; generic AI goes off-brand; people-based teams don't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brand-aware generation + human-in-the-loop approval + direct multi-channel publishing, in one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now: content volume 10x, AI quality now indistinguishable (Samsung S26), market compounding 25% — the timeline converges in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works: connect channels, describe one brief, review or auto-publish.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capabilities across the whole loop: prompt-to-post, on-brand, approve/schedule, publish, images+video, one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showcase: image post (Instagram), short video (YouTube), scheduled post (LinkedIn) — icon-only, generated from one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Market: TAM $82B global AI-marketing by 2030; SAM India digital $6.7B (30% CAGR); SOM SMB/creator/agency. Segment table with sourced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matrix: content/AI tools, schedulers and agencies each own a piece; MagicBox is the only one with brand-aware content, end-to-end workflow, publishing and human approval — at low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users: founders, solo creators, agencies, D2C brands.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Vision/close: MagicBox grows from an AI marketing agent into the marketing OS for every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7008" y="530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178308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</a:t>
            </a:r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</a:t>
            </a:r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reels,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autopilot.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640080" y="4526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MagicBox is an AI marketing agent built for scale — spin up dozens of on-brand reels, posts and videos from a single brief, then publish them everywhere that matters.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23560"/>
            <a:ext cx="566928" cy="56692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5623560"/>
            <a:ext cx="566928" cy="56692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5623560"/>
            <a:ext cx="566928" cy="56692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Nhancio Technologies Private Limited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marketing shouldn't be this hard — but it is.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5420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E6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51760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5237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 still posts by hand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32688" y="3108960"/>
            <a:ext cx="4672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now, content is made manually — briefs, designs, approvals, posts — repeated endlessly for each channel.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63640" y="228600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37960" y="25420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E6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651760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25237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automate tasks, not outcomes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56248" y="3108960"/>
            <a:ext cx="4672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write a caption or make an image, but no tool owns the whole job across Instagram, LinkedIn and YouTube.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43708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E6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48056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352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drifts off-brand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932688" y="4937760"/>
            <a:ext cx="4672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models ignore your voice and rules. Even Samsung's AI-made Galaxy S26 ads drew backlash for eroding trust.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63640" y="411480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37960" y="43708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E6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480560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43525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and agencies don't scale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556248" y="4937760"/>
            <a:ext cx="46725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rises with output and quality depends on people, not systems. Creativity never compounds.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0080" y="6016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6D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if marketing could compound like code — not repeat like manual labor?”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704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brief in.
</a:t>
            </a:r>
            <a:pPr indent="0" marL="0">
              <a:lnSpc>
                <a:spcPts val="5000"/>
              </a:lnSpc>
              <a:buNone/>
            </a:pPr>
            <a:r>
              <a:rPr lang="en-US" sz="46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month of reels out.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MagicBox is a brand-aware marketing agent built for volume. Give it one theme, voice and cadence, and it produces reels, posts and images at scale — on-brand, routed through optional approval, and published direct to every channel.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42611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Brand-aware generation  </a:t>
            </a:r>
            <a:pPr indent="0" marL="0"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Voice, palette and rules baked into every draft.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731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7183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 </a:t>
            </a:r>
            <a:pPr indent="0" marL="0"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Approve from a queue, or let trusted automations ship.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3036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51755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multi-channel publishing  </a:t>
            </a:r>
            <a:pPr indent="0" marL="0"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to your channels — no copy-paste, no export.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932688"/>
            <a:ext cx="2487168" cy="516565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0080" y="6016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6D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if one brief could become a month of reels?”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perfect </a:t>
            </a:r>
            <a:pPr indent="0" marL="0">
              <a:buNone/>
            </a:pPr>
            <a:r>
              <a:rPr lang="en-US" sz="46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storm</a:t>
            </a:r>
            <a:pPr indent="0" marL="0">
              <a:buNone/>
            </a:pPr>
            <a:r>
              <a:rPr lang="en-US" sz="4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are converging into an unprecedented opening.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2688" y="26060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7340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5511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932688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volume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32688" y="3703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reward constant, fresh, channel-specific content. Brands need far more than they can make by hand.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89120" y="233172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81728" y="26060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7340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25511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4681728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crossed the 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681728" y="3703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copy and visuals rival human work — even Samsung's Galaxy S26 ads (Feb 2026) were fully AI-generated.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38160" y="233172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30768" y="260604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27340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255117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8430768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430768" y="3703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AI-in-marketing spend compounds ~25% a year — $35B in 2026 toward $82B by 2030.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22960" y="5212080"/>
            <a:ext cx="10241280" cy="0"/>
          </a:xfrm>
          <a:prstGeom prst="line">
            <a:avLst/>
          </a:prstGeom>
          <a:noFill/>
          <a:ln w="19050">
            <a:solidFill>
              <a:srgbClr val="E0DFD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8952" y="5148072"/>
            <a:ext cx="128016" cy="128016"/>
          </a:xfrm>
          <a:prstGeom prst="ellipse">
            <a:avLst/>
          </a:prstGeom>
          <a:solidFill>
            <a:srgbClr val="716D66"/>
          </a:solidFill>
          <a:ln/>
        </p:spPr>
      </p:sp>
      <p:sp>
        <p:nvSpPr>
          <p:cNvPr id="27" name="Text 21"/>
          <p:cNvSpPr/>
          <p:nvPr/>
        </p:nvSpPr>
        <p:spPr>
          <a:xfrm>
            <a:off x="731520" y="5358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16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2020–22  </a:t>
            </a:r>
            <a:pPr algn="l" indent="0" marL="0">
              <a:buNone/>
            </a:pPr>
            <a:r>
              <a:rPr lang="en-US" sz="10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quality gap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879592" y="5148072"/>
            <a:ext cx="128016" cy="128016"/>
          </a:xfrm>
          <a:prstGeom prst="ellipse">
            <a:avLst/>
          </a:prstGeom>
          <a:solidFill>
            <a:srgbClr val="716D66"/>
          </a:solidFill>
          <a:ln/>
        </p:spPr>
      </p:sp>
      <p:sp>
        <p:nvSpPr>
          <p:cNvPr id="29" name="Text 23"/>
          <p:cNvSpPr/>
          <p:nvPr/>
        </p:nvSpPr>
        <p:spPr>
          <a:xfrm>
            <a:off x="4114800" y="5358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6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  </a:t>
            </a:r>
            <a:pPr algn="ctr" indent="0" marL="0">
              <a:buNone/>
            </a:pPr>
            <a:r>
              <a:rPr lang="en-US" sz="10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explosion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1000232" y="5148072"/>
            <a:ext cx="128016" cy="128016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31" name="Text 25"/>
          <p:cNvSpPr/>
          <p:nvPr/>
        </p:nvSpPr>
        <p:spPr>
          <a:xfrm>
            <a:off x="7498080" y="5358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 </a:t>
            </a:r>
            <a:pPr algn="r" indent="0" marL="0">
              <a:buNone/>
            </a:pPr>
            <a:r>
              <a:rPr lang="en-US" sz="10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perfect storm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 from brief to published.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3108960" y="24231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E6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5603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200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channels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60120" y="393192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Instagram, LinkedIn and YouTube. Credentials stay server-side; MagicBox only publishes to accounts you authorize.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593592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389120" y="21031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0916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Shape 10"/>
          <p:cNvSpPr/>
          <p:nvPr/>
        </p:nvSpPr>
        <p:spPr>
          <a:xfrm>
            <a:off x="6858000" y="24231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E6F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56032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09160" y="3200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one brief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709160" y="393192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theme, voice and cadence. Your brand kit automatically shapes copy, palette and imagery for each channel.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3593592"/>
            <a:ext cx="219456" cy="21945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38160" y="21031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45820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Shape 15"/>
          <p:cNvSpPr/>
          <p:nvPr/>
        </p:nvSpPr>
        <p:spPr>
          <a:xfrm>
            <a:off x="10607040" y="24231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FE6FB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2560320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58200" y="3200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auto-publish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8458200" y="393192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drafts from the queue, or let trusted automations ship on schedule to every connected channel.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PLATFORM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whole marketing loop.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17627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6000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78892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 post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3136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campaign in a sentence — MagicBox writes copy, generates the image and prepares a post per channel.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61688" y="19202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17720" y="217627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286000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78892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by default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17720" y="3136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kit — voice, palette, do's and don'ts — is applied to every generation. No off-message posts.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83296" y="192024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39328" y="217627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28600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39328" y="278892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auto-schedule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39328" y="313639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everything through an approval queue, or let trusted automations run on the cadence you choose.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959352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96112" y="4215384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25112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6112" y="482803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where it counts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96112" y="51755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publishing to Instagram, LinkedIn and YouTube, in the formats each platform actually accepts.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61688" y="3959352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17720" y="4215384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325112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17720" y="482803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short video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617720" y="51755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on-brand images and short video clips ready for Reels, Shorts and feed posts.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083296" y="3959352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39328" y="4215384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FE6FB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4325112"/>
            <a:ext cx="283464" cy="2834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39328" y="4828032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Multi-channel, one workspace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339328" y="51755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channel, brand and draft lives in a single place — no fragmented stack.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brief. </a:t>
            </a:r>
            <a:pPr indent="0" marL="0"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channel.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reels, image posts and scheduled drops at scale — the same idea, reshaped for every platform, all on-brand.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468880"/>
            <a:ext cx="1691640" cy="351340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194560"/>
            <a:ext cx="1874520" cy="389323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468880"/>
            <a:ext cx="1691640" cy="351340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 market, compounding at </a:t>
            </a:r>
            <a:pPr indent="0" marL="0">
              <a:buNone/>
            </a:pPr>
            <a:r>
              <a:rPr lang="en-US" sz="36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~25%</a:t>
            </a:r>
            <a:pPr indent="0" marL="0">
              <a:buNone/>
            </a:pPr>
            <a:r>
              <a:rPr lang="en-US" sz="36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year.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F4F4F1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20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$82B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32688" y="2606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16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" y="28346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AI-in-marketing spend by 2030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98264" y="178308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F4F4F1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72584" y="1920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$6.7B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690872" y="2606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16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90872" y="28346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digital marketing today (30% CAGR)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56448" y="1783080"/>
            <a:ext cx="3429000" cy="1371600"/>
          </a:xfrm>
          <a:prstGeom prst="roundRect">
            <a:avLst>
              <a:gd name="adj" fmla="val 4667"/>
            </a:avLst>
          </a:prstGeom>
          <a:solidFill>
            <a:srgbClr val="F4F4F1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0768" y="1920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SMB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8449056" y="2606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16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49056" y="28346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creators &amp; agencies first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429000"/>
            <a:ext cx="10911535" cy="402336"/>
          </a:xfrm>
          <a:prstGeom prst="roundRect">
            <a:avLst>
              <a:gd name="adj" fmla="val 9091"/>
            </a:avLst>
          </a:prstGeom>
          <a:solidFill>
            <a:srgbClr val="171614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3429000"/>
            <a:ext cx="4308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87517" y="3429000"/>
            <a:ext cx="1798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60708" y="3429000"/>
            <a:ext cx="24535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88592" y="3429000"/>
            <a:ext cx="1253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4233672"/>
            <a:ext cx="10911535" cy="0"/>
          </a:xfrm>
          <a:prstGeom prst="line">
            <a:avLst/>
          </a:prstGeom>
          <a:noFill/>
          <a:ln w="12700">
            <a:solidFill>
              <a:srgbClr val="E0DF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3831336"/>
            <a:ext cx="4308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 marketing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87517" y="3831336"/>
            <a:ext cx="1798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$35B (2026)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60708" y="3831336"/>
            <a:ext cx="24535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$82.2B by 2030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188592" y="3831336"/>
            <a:ext cx="1253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4636008"/>
            <a:ext cx="10911535" cy="0"/>
          </a:xfrm>
          <a:prstGeom prst="line">
            <a:avLst/>
          </a:prstGeom>
          <a:noFill/>
          <a:ln w="12700">
            <a:solidFill>
              <a:srgbClr val="E0DF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4233672"/>
            <a:ext cx="4308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management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87517" y="4233672"/>
            <a:ext cx="1798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$29.9B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460708" y="4233672"/>
            <a:ext cx="24535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$171.6B by 2033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188592" y="4233672"/>
            <a:ext cx="1253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0080" y="5038344"/>
            <a:ext cx="10911535" cy="0"/>
          </a:xfrm>
          <a:prstGeom prst="line">
            <a:avLst/>
          </a:prstGeom>
          <a:noFill/>
          <a:ln w="12700">
            <a:solidFill>
              <a:srgbClr val="E0DF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" y="4636008"/>
            <a:ext cx="4308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digital marketing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87517" y="4636008"/>
            <a:ext cx="1798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$6.7B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460708" y="4636008"/>
            <a:ext cx="24535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$72B by 2034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0188592" y="4636008"/>
            <a:ext cx="1253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 first: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— 460M+ social users and a fast-growing base of SMBs, creators and D2C brands that need on-brand output, not enterprise complexity.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40080" y="5715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Grand View Research; MarketsandMarkets; Expert Market Research (India); DataReportal.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Others do a piece. </a:t>
            </a:r>
            <a:pPr indent="0" marL="0">
              <a:buNone/>
            </a:pPr>
            <a:r>
              <a:rPr lang="en-US" sz="34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 closes the loop.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840480" y="178308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Brand-aware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382707" y="178308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24934" y="178308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67161" y="178308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09388" y="1783080"/>
            <a:ext cx="15422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1091153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624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/ AI tools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6112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Jasper · Copy.ai · OpusClip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434" y="2752344"/>
            <a:ext cx="274320" cy="27432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661" y="2752344"/>
            <a:ext cx="274320" cy="27432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888" y="2752344"/>
            <a:ext cx="274320" cy="27432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115" y="275234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09388" y="2560320"/>
            <a:ext cx="15422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16D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40080" y="3346704"/>
            <a:ext cx="10911535" cy="676656"/>
          </a:xfrm>
          <a:prstGeom prst="roundRect">
            <a:avLst>
              <a:gd name="adj" fmla="val 8108"/>
            </a:avLst>
          </a:prstGeom>
          <a:solidFill>
            <a:srgbClr val="F4F4F1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96112" y="3410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96112" y="37581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Hootsuite · Buffer · Sprout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4434" y="3538728"/>
            <a:ext cx="274320" cy="274320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661" y="3538728"/>
            <a:ext cx="274320" cy="27432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8888" y="3538728"/>
            <a:ext cx="274320" cy="274320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1115" y="3538728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0009388" y="3346704"/>
            <a:ext cx="15422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16D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$$</a:t>
            </a:r>
            <a:endParaRPr lang="en-US" sz="1800" dirty="0"/>
          </a:p>
        </p:txBody>
      </p:sp>
      <p:sp>
        <p:nvSpPr>
          <p:cNvPr id="27" name="Shape 16"/>
          <p:cNvSpPr/>
          <p:nvPr/>
        </p:nvSpPr>
        <p:spPr>
          <a:xfrm>
            <a:off x="640080" y="4133088"/>
            <a:ext cx="10911535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896112" y="41970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1400" dirty="0"/>
          </a:p>
        </p:txBody>
      </p:sp>
      <p:sp>
        <p:nvSpPr>
          <p:cNvPr id="29" name="Text 18"/>
          <p:cNvSpPr/>
          <p:nvPr/>
        </p:nvSpPr>
        <p:spPr>
          <a:xfrm>
            <a:off x="896112" y="4544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creative teams</a:t>
            </a:r>
            <a:endParaRPr lang="en-US" sz="9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4434" y="4325112"/>
            <a:ext cx="274320" cy="274320"/>
          </a:xfrm>
          <a:prstGeom prst="rect">
            <a:avLst/>
          </a:prstGeom>
        </p:spPr>
      </p:pic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6661" y="4325112"/>
            <a:ext cx="274320" cy="27432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8888" y="4325112"/>
            <a:ext cx="274320" cy="274320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1115" y="4325112"/>
            <a:ext cx="274320" cy="27432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0009388" y="4133088"/>
            <a:ext cx="15422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16D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$$$</a:t>
            </a:r>
            <a:endParaRPr lang="en-US" sz="1800" dirty="0"/>
          </a:p>
        </p:txBody>
      </p:sp>
      <p:sp>
        <p:nvSpPr>
          <p:cNvPr id="35" name="Shape 20"/>
          <p:cNvSpPr/>
          <p:nvPr/>
        </p:nvSpPr>
        <p:spPr>
          <a:xfrm>
            <a:off x="640080" y="4919472"/>
            <a:ext cx="10911535" cy="676656"/>
          </a:xfrm>
          <a:prstGeom prst="roundRect">
            <a:avLst>
              <a:gd name="adj" fmla="val 8108"/>
            </a:avLst>
          </a:prstGeom>
          <a:solidFill>
            <a:srgbClr val="171614"/>
          </a:solidFill>
          <a:ln w="12700">
            <a:solidFill>
              <a:srgbClr val="171614"/>
            </a:solidFill>
            <a:prstDash val="solid"/>
          </a:ln>
        </p:spPr>
      </p:sp>
      <p:sp>
        <p:nvSpPr>
          <p:cNvPr id="36" name="Text 21"/>
          <p:cNvSpPr/>
          <p:nvPr/>
        </p:nvSpPr>
        <p:spPr>
          <a:xfrm>
            <a:off x="896112" y="4983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900" dirty="0"/>
          </a:p>
        </p:txBody>
      </p:sp>
      <p:sp>
        <p:nvSpPr>
          <p:cNvPr id="37" name="Text 22"/>
          <p:cNvSpPr/>
          <p:nvPr/>
        </p:nvSpPr>
        <p:spPr>
          <a:xfrm>
            <a:off x="896112" y="5330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AI marketing agent</a:t>
            </a:r>
            <a:endParaRPr lang="en-US" sz="9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74434" y="5111496"/>
            <a:ext cx="274320" cy="274320"/>
          </a:xfrm>
          <a:prstGeom prst="rect">
            <a:avLst/>
          </a:prstGeom>
        </p:spPr>
      </p:pic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6661" y="5111496"/>
            <a:ext cx="274320" cy="274320"/>
          </a:xfrm>
          <a:prstGeom prst="rect">
            <a:avLst/>
          </a:prstGeom>
        </p:spPr>
      </p:pic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58888" y="5111496"/>
            <a:ext cx="274320" cy="274320"/>
          </a:xfrm>
          <a:prstGeom prst="rect">
            <a:avLst/>
          </a:prstGeom>
        </p:spPr>
      </p:pic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1115" y="5111496"/>
            <a:ext cx="274320" cy="27432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10009388" y="4919472"/>
            <a:ext cx="15422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43" name="Text 24"/>
          <p:cNvSpPr/>
          <p:nvPr/>
        </p:nvSpPr>
        <p:spPr>
          <a:xfrm>
            <a:off x="640080" y="6016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6D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if your rivals used yesterday's tools while you had tomorrow's?”</a:t>
            </a:r>
            <a:endParaRPr lang="en-US" sz="1400" dirty="0"/>
          </a:p>
        </p:txBody>
      </p:sp>
      <p:sp>
        <p:nvSpPr>
          <p:cNvPr id="44" name="Text 2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45" name="Text 2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IT'S FOR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42062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54335" y="402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for teams without a content team.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2615184" cy="320040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2468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FE6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334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33375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32688" y="3840480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public and stay top-of-mind without hiring a content team.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529584" y="2148840"/>
            <a:ext cx="2615184" cy="320040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822192" y="2468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FE6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6334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22192" y="33375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creators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822192" y="3840480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brief a week becomes a full calendar across your core channels.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19088" y="2148840"/>
            <a:ext cx="2615184" cy="320040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11696" y="2468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FE6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6334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11696" y="33375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agencies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711696" y="3840480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brands, each on-voice, from a single workspace.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308592" y="2148840"/>
            <a:ext cx="2615184" cy="320040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601200" y="24688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EFE6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2" y="263347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0" y="333756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brands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9601200" y="3840480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products into scroll-stopping posts across visual-first channels.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2344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659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MagicBox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94484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 AI marketing agent</a:t>
            </a:r>
            <a:endParaRPr lang="en-US" sz="40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</a:t>
            </a:r>
            <a:endParaRPr lang="en-US" sz="40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OS</a:t>
            </a:r>
            <a:pPr algn="ctr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7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every brand.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1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reels. Everywhere that matters.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8" y="5029200"/>
            <a:ext cx="640080" cy="6400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5029200"/>
            <a:ext cx="640080" cy="64008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088" y="5029200"/>
            <a:ext cx="640080" cy="6400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6D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magicboxai.in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MagicBox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Nhancio Technologies Pvt. Ltd.</dc:creator>
  <cp:lastModifiedBy>Nhancio Technologies Pvt. Ltd.</cp:lastModifiedBy>
  <cp:revision>1</cp:revision>
  <dcterms:created xsi:type="dcterms:W3CDTF">2026-07-15T16:16:22Z</dcterms:created>
  <dcterms:modified xsi:type="dcterms:W3CDTF">2026-07-15T16:16:22Z</dcterms:modified>
</cp:coreProperties>
</file>